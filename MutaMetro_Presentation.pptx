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56"/>
  </p:normalViewPr>
  <p:slideViewPr>
    <p:cSldViewPr snapToGrid="0" snapToObjects="1">
      <p:cViewPr>
        <p:scale>
          <a:sx n="136" d="100"/>
          <a:sy n="136" d="100"/>
        </p:scale>
        <p:origin x="2848" y="1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03923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9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5568" y="228600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228600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53312" y="2724912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271016" y="2441448"/>
            <a:ext cx="484632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508760" y="2441448"/>
            <a:ext cx="246888" cy="438912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2084831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8FAFC"/>
                </a:solidFill>
                <a:latin typeface="Inter"/>
              </a:rPr>
              <a:t>MutaMetro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35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Inter"/>
              </a:rPr>
              <a:t>Consolidated pipeline recommendations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40156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Inter"/>
              </a:rPr>
              <a:t>DNA Mutational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069080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73936" y="4105656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</a:rPr>
              <a:t>Sarek  v3.8.1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69080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4105656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</a:rPr>
              <a:t>GATK Best Practices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069080"/>
            <a:ext cx="2606040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43216" y="4105656"/>
            <a:ext cx="2532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Inter"/>
              </a:rPr>
              <a:t>OncoAnalyzer  v2.3.0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36592"/>
            <a:ext cx="8229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Inter"/>
              </a:rPr>
              <a:t>Task Force </a:t>
            </a:r>
            <a:r>
              <a:rPr sz="900" b="0" i="0" dirty="0" err="1">
                <a:solidFill>
                  <a:srgbClr val="94A3B8"/>
                </a:solidFill>
                <a:latin typeface="Inter"/>
              </a:rPr>
              <a:t>Computazionale</a:t>
            </a:r>
            <a:r>
              <a:rPr sz="900" b="0" i="0" dirty="0">
                <a:solidFill>
                  <a:srgbClr val="94A3B8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94A3B8"/>
                </a:solidFill>
                <a:latin typeface="Inter"/>
              </a:rPr>
              <a:t>Bioinfo</a:t>
            </a:r>
            <a:r>
              <a:rPr sz="900" b="0" i="0" dirty="0">
                <a:solidFill>
                  <a:srgbClr val="94A3B8"/>
                </a:solidFill>
                <a:latin typeface="Inter"/>
              </a:rPr>
              <a:t>  ·  September 202</a:t>
            </a:r>
            <a:r>
              <a:rPr lang="it-IT" sz="900" b="0" i="0" dirty="0">
                <a:solidFill>
                  <a:srgbClr val="94A3B8"/>
                </a:solidFill>
                <a:latin typeface="Inter"/>
              </a:rPr>
              <a:t>6</a:t>
            </a:r>
            <a:endParaRPr sz="900" b="0" i="0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What this presentation covers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746504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2704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476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What MutaMetro is and why it was 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91656" y="1746504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52704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App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9476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5 sections — Home, Map, Wiki, Sandbox, Guides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1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2679191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008375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889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Pipeline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095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The subway-map metaphor and 8-step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679191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2679191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3008375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78892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The Three Pipelines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2095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Sarek  ·  GATK Best Practices  ·  OncoAnalyzer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41063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" y="3941063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6" y="427024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50791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Tool Directory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714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Key bioinformatics tools at every step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941063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55080" y="3941063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91656" y="427024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050791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Clinical Profiles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47141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Specimen, coverage, LOD, TAT comparison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5202936"/>
            <a:ext cx="5577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310128" y="5202936"/>
            <a:ext cx="512064" cy="111556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46704" y="5532120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0208" y="531266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Further Directions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0208" y="57332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Proposed next features and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MutaMetro — what it is and why it exists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4552" cy="987552"/>
          </a:xfrm>
          <a:prstGeom prst="roundRect">
            <a:avLst>
              <a:gd name="adj" fmla="val 8000"/>
            </a:avLst>
          </a:prstGeom>
          <a:solidFill>
            <a:srgbClr val="EB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4008" cy="98755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517904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F172A"/>
                </a:solidFill>
                <a:latin typeface="Inter"/>
              </a:rPr>
              <a:t>"Standardized, evidence-based workflow recommendations for DNA mutational analysis — visualised as an interactive subway map that makes consensus steps and divergence points immediately legible."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703320" cy="4005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009438"/>
            <a:ext cx="370332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77977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145536"/>
            <a:ext cx="3374136" cy="332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Clinical and research labs run inconsistent bioinformatics pipelines. Different tool choices, parameters and QC thresholds lead to non-reproducible variant calls that are hard to compare across institutions.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578608"/>
            <a:ext cx="3703320" cy="4005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3009438"/>
            <a:ext cx="370332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277977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45536"/>
            <a:ext cx="3374136" cy="332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MutaMetro maps three community-validated pipelines onto a shared subway-map metaphor, making it immediately clear which tools are consensus standards and where pipelines diverge.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2578608"/>
            <a:ext cx="3703320" cy="4005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84464" y="3009438"/>
            <a:ext cx="370332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2779776"/>
            <a:ext cx="3374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The 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3145536"/>
            <a:ext cx="3374136" cy="332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Computational pathologists, clinical bioinformaticians and wet-lab scientists who need to select or validate a pipeline — without reading hundreds of pages of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App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React 18  ·  TypeScript  ·  Vite 6  ·  React Router  ·  5 navigable 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37033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370332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609344"/>
            <a:ext cx="566928" cy="23774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5910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33741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Landing page. Tagline, pipeline selector quiz, clinical profile cards, and subway-map legend explainer.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44752"/>
            <a:ext cx="37033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70832" y="1444752"/>
            <a:ext cx="370332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07992" y="1609344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61848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/map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5910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Pipeline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993392"/>
            <a:ext cx="33741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Full-screen interactive tube map. Click any station to open a side-panel with tool details, pros/cons, CLI params and quality criteria.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444752"/>
            <a:ext cx="37033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84464" y="1444752"/>
            <a:ext cx="3703320" cy="43891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1624" y="1609344"/>
            <a:ext cx="566928" cy="23774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21624" y="1618488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/wiki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5910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Wiki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1993392"/>
            <a:ext cx="33741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Per-pipeline deep-dive pages: architecture theory, key publications and worked examples — rendered from Markdown with inline glossary tooltips.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57984" y="4133087"/>
            <a:ext cx="39319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157984" y="4133087"/>
            <a:ext cx="3931920" cy="43891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295144" y="42976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44852" y="4309565"/>
            <a:ext cx="66751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FFFFFF"/>
                </a:solidFill>
                <a:latin typeface="Inter"/>
              </a:rPr>
              <a:t>/sandbox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62656" y="4279392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Sandbox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2576" y="4681727"/>
            <a:ext cx="36027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Build a custom pipeline by picking one tool per step. Live tube-map preview in amber + one-click Bash script export.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4133087"/>
            <a:ext cx="39319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18504" y="4133087"/>
            <a:ext cx="393192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55664" y="42976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4306824"/>
            <a:ext cx="566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/guides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279392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Inter"/>
              </a:rPr>
              <a:t>Guides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4681727"/>
            <a:ext cx="36027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Quick-start commands for Sarek, OncoAnalyzer and GATK BP. External links for Nextflow, Docker, VEP cache and MultiQC.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The Subway Map Metaphor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Three design concepts that carry the whole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703320" cy="446227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737360"/>
            <a:ext cx="676656" cy="67665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60244"/>
            <a:ext cx="67665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96896"/>
            <a:ext cx="3364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Pipeline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33649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Each coloured path traces a validated community-standard workflow from raw reads to annotated variants — like a subway route through analysis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08760"/>
            <a:ext cx="3703320" cy="446227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53712" y="1737360"/>
            <a:ext cx="676656" cy="6766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860244"/>
            <a:ext cx="67665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Inter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96896"/>
            <a:ext cx="3364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Tool 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90672"/>
            <a:ext cx="33649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Every node is a specific software tool. Click any station to see its description, pros/cons, quality criteria and recommended CLI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508760"/>
            <a:ext cx="3703320" cy="446227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67344" y="1737360"/>
            <a:ext cx="676656" cy="67665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1860244"/>
            <a:ext cx="67665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Inter"/>
              </a:rPr>
              <a:t>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596896"/>
            <a:ext cx="336499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Consensus Hubs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90672"/>
            <a:ext cx="33649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Thick interchange rings mark tools where multiple pipelines converge — indicating broad community consensus (e.g. BWA-MEM2, MarkDuplicates).</a:t>
            </a:r>
          </a:p>
        </p:txBody>
      </p: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83FD8421-940C-548E-2A31-7D0C3522C7B2}"/>
              </a:ext>
            </a:extLst>
          </p:cNvPr>
          <p:cNvGrpSpPr/>
          <p:nvPr/>
        </p:nvGrpSpPr>
        <p:grpSpPr>
          <a:xfrm>
            <a:off x="2939796" y="4840947"/>
            <a:ext cx="6565392" cy="603504"/>
            <a:chOff x="2889504" y="5934456"/>
            <a:chExt cx="6565392" cy="603504"/>
          </a:xfrm>
        </p:grpSpPr>
        <p:cxnSp>
          <p:nvCxnSpPr>
            <p:cNvPr id="21" name="Connector 20"/>
            <p:cNvCxnSpPr/>
            <p:nvPr/>
          </p:nvCxnSpPr>
          <p:spPr>
            <a:xfrm>
              <a:off x="2971800" y="6016752"/>
              <a:ext cx="6400800" cy="0"/>
            </a:xfrm>
            <a:prstGeom prst="line">
              <a:avLst/>
            </a:prstGeom>
            <a:ln w="31750">
              <a:solidFill>
                <a:srgbClr val="05966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8895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/>
            <p:cNvSpPr/>
            <p:nvPr/>
          </p:nvSpPr>
          <p:spPr>
            <a:xfrm>
              <a:off x="38039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23"/>
            <p:cNvSpPr/>
            <p:nvPr/>
          </p:nvSpPr>
          <p:spPr>
            <a:xfrm>
              <a:off x="47183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Oval 24"/>
            <p:cNvSpPr/>
            <p:nvPr/>
          </p:nvSpPr>
          <p:spPr>
            <a:xfrm>
              <a:off x="56327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25"/>
            <p:cNvSpPr/>
            <p:nvPr/>
          </p:nvSpPr>
          <p:spPr>
            <a:xfrm>
              <a:off x="65471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74615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83759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/>
            <p:cNvSpPr/>
            <p:nvPr/>
          </p:nvSpPr>
          <p:spPr>
            <a:xfrm>
              <a:off x="9290304" y="5934456"/>
              <a:ext cx="164592" cy="164592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2971800" y="6236208"/>
              <a:ext cx="6400800" cy="0"/>
            </a:xfrm>
            <a:prstGeom prst="line">
              <a:avLst/>
            </a:prstGeom>
            <a:ln w="31750">
              <a:solidFill>
                <a:srgbClr val="2563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28895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Oval 31"/>
            <p:cNvSpPr/>
            <p:nvPr/>
          </p:nvSpPr>
          <p:spPr>
            <a:xfrm>
              <a:off x="38039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Oval 32"/>
            <p:cNvSpPr/>
            <p:nvPr/>
          </p:nvSpPr>
          <p:spPr>
            <a:xfrm>
              <a:off x="47183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56327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65471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7461504" y="6153912"/>
              <a:ext cx="164592" cy="164592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2971800" y="6455664"/>
              <a:ext cx="6400800" cy="0"/>
            </a:xfrm>
            <a:prstGeom prst="line">
              <a:avLst/>
            </a:prstGeom>
            <a:ln w="31750">
              <a:solidFill>
                <a:srgbClr val="DC262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28895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38039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47183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Oval 40"/>
            <p:cNvSpPr/>
            <p:nvPr/>
          </p:nvSpPr>
          <p:spPr>
            <a:xfrm>
              <a:off x="56327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Oval 41"/>
            <p:cNvSpPr/>
            <p:nvPr/>
          </p:nvSpPr>
          <p:spPr>
            <a:xfrm>
              <a:off x="65471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Oval 42"/>
            <p:cNvSpPr/>
            <p:nvPr/>
          </p:nvSpPr>
          <p:spPr>
            <a:xfrm>
              <a:off x="83759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9290304" y="6373368"/>
              <a:ext cx="164592" cy="164592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8-Step 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From raw sequencing reads to clinically reportable variants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12841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5386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386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4708" y="2075688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08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106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106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FASTQ files
from sequencer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22160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94705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94705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234027" y="2075688"/>
            <a:ext cx="420624" cy="420624"/>
          </a:xfrm>
          <a:prstGeom prst="ellipse">
            <a:avLst/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34027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0425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QC &amp; Trim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425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FastQC / fastp
Adapter removal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31479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04024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304024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43346" y="2075688"/>
            <a:ext cx="420624" cy="42062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43346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9744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9744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BWA-MEM2 /
DRAGMAP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40798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13343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713343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52665" y="207568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52665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63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Post-
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9063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MarkDuplicates
BQSR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50117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122662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122662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61984" y="2075688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61984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8382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Variant
Calling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68382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Mutect2 /
Strelka2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59436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531981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531981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871303" y="207568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71303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7701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Filtering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77701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FilterMutect
Calls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068755" y="3337560"/>
            <a:ext cx="225491" cy="0"/>
          </a:xfrm>
          <a:prstGeom prst="line">
            <a:avLst/>
          </a:prstGeom>
          <a:ln w="190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941300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941300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80622" y="207568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80622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7020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Annotation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7020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Ensembl VEP
ClinVar / COSMIC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50619" y="1965960"/>
            <a:ext cx="1099268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350619" y="1965960"/>
            <a:ext cx="1099268" cy="54864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689941" y="2075688"/>
            <a:ext cx="420624" cy="420624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689941" y="2155195"/>
            <a:ext cx="420624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96339" y="2587752"/>
            <a:ext cx="10078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Inter"/>
              </a:rPr>
              <a:t>Reporting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6339" y="3246120"/>
            <a:ext cx="100782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Inter"/>
              </a:rPr>
              <a:t>MultiQC
HTML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29107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Inter"/>
              </a:rPr>
              <a:t>◎  Consensus hubs (used by ≥ 2 pipelines): BWA-MEM2 · MarkDuplicates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Interactive Pipeline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Click any station to open tool details  ·  Filter by variant type  ·  Toggle individual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39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672045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17765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QC &amp; Trim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74965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52651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8371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Alignment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55571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33257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78977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Post-
process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36177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13862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9582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Variant
Calling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16782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94468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0188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Filtering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97388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75074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20794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Annotation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77994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1155680" y="1298448"/>
            <a:ext cx="1005840" cy="49377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01400" y="130759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4748B"/>
                </a:solidFill>
                <a:latin typeface="Inter"/>
              </a:rPr>
              <a:t>Reporting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658600" y="1801368"/>
            <a:ext cx="0" cy="4142232"/>
          </a:xfrm>
          <a:prstGeom prst="line">
            <a:avLst/>
          </a:prstGeom>
          <a:ln w="6350">
            <a:solidFill>
              <a:srgbClr val="C0C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74965" y="3017520"/>
            <a:ext cx="9483635" cy="0"/>
          </a:xfrm>
          <a:prstGeom prst="line">
            <a:avLst/>
          </a:prstGeom>
          <a:ln w="635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069809" y="2912363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0605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FastQC
+ fastp</a:t>
            </a:r>
          </a:p>
        </p:txBody>
      </p:sp>
      <p:sp>
        <p:nvSpPr>
          <p:cNvPr id="33" name="Oval 32"/>
          <p:cNvSpPr/>
          <p:nvPr/>
        </p:nvSpPr>
        <p:spPr>
          <a:xfrm>
            <a:off x="3545259" y="2807208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609267" y="2871215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61211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BWA-MEM2</a:t>
            </a:r>
          </a:p>
        </p:txBody>
      </p:sp>
      <p:sp>
        <p:nvSpPr>
          <p:cNvPr id="36" name="Oval 35"/>
          <p:cNvSpPr/>
          <p:nvPr/>
        </p:nvSpPr>
        <p:spPr>
          <a:xfrm>
            <a:off x="5125865" y="2807208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189873" y="2871215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41817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MarkDup
+ BQSR</a:t>
            </a:r>
          </a:p>
        </p:txBody>
      </p:sp>
      <p:sp>
        <p:nvSpPr>
          <p:cNvPr id="39" name="Oval 38"/>
          <p:cNvSpPr/>
          <p:nvPr/>
        </p:nvSpPr>
        <p:spPr>
          <a:xfrm>
            <a:off x="6811626" y="2912363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2422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Mutect2</a:t>
            </a:r>
          </a:p>
        </p:txBody>
      </p:sp>
      <p:sp>
        <p:nvSpPr>
          <p:cNvPr id="41" name="Oval 40"/>
          <p:cNvSpPr/>
          <p:nvPr/>
        </p:nvSpPr>
        <p:spPr>
          <a:xfrm>
            <a:off x="8392232" y="2912363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3028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FilterMutect</a:t>
            </a:r>
          </a:p>
        </p:txBody>
      </p:sp>
      <p:sp>
        <p:nvSpPr>
          <p:cNvPr id="43" name="Oval 42"/>
          <p:cNvSpPr/>
          <p:nvPr/>
        </p:nvSpPr>
        <p:spPr>
          <a:xfrm>
            <a:off x="9972838" y="2912363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83634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VEP</a:t>
            </a:r>
          </a:p>
        </p:txBody>
      </p:sp>
      <p:sp>
        <p:nvSpPr>
          <p:cNvPr id="45" name="Oval 44"/>
          <p:cNvSpPr/>
          <p:nvPr/>
        </p:nvSpPr>
        <p:spPr>
          <a:xfrm>
            <a:off x="11553444" y="2912363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064240" y="24505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059669"/>
                </a:solidFill>
                <a:latin typeface="Inter"/>
              </a:rPr>
              <a:t>MultiQC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174965" y="4114800"/>
            <a:ext cx="6322423" cy="0"/>
          </a:xfrm>
          <a:prstGeom prst="line">
            <a:avLst/>
          </a:prstGeom>
          <a:ln w="635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2069809" y="400964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80605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2563EB"/>
                </a:solidFill>
                <a:latin typeface="Inter"/>
              </a:rPr>
              <a:t>FastQC</a:t>
            </a:r>
          </a:p>
        </p:txBody>
      </p:sp>
      <p:sp>
        <p:nvSpPr>
          <p:cNvPr id="50" name="Oval 49"/>
          <p:cNvSpPr/>
          <p:nvPr/>
        </p:nvSpPr>
        <p:spPr>
          <a:xfrm>
            <a:off x="3545259" y="3904487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609267" y="396849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161211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2563EB"/>
                </a:solidFill>
                <a:latin typeface="Inter"/>
              </a:rPr>
              <a:t>BWA-MEM2</a:t>
            </a:r>
          </a:p>
        </p:txBody>
      </p:sp>
      <p:sp>
        <p:nvSpPr>
          <p:cNvPr id="53" name="Oval 52"/>
          <p:cNvSpPr/>
          <p:nvPr/>
        </p:nvSpPr>
        <p:spPr>
          <a:xfrm>
            <a:off x="5125865" y="3904487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189873" y="3968496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41817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2563EB"/>
                </a:solidFill>
                <a:latin typeface="Inter"/>
              </a:rPr>
              <a:t>MarkDup
+ BQSR</a:t>
            </a:r>
          </a:p>
        </p:txBody>
      </p:sp>
      <p:sp>
        <p:nvSpPr>
          <p:cNvPr id="56" name="Oval 55"/>
          <p:cNvSpPr/>
          <p:nvPr/>
        </p:nvSpPr>
        <p:spPr>
          <a:xfrm>
            <a:off x="6811626" y="400964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2422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2563EB"/>
                </a:solidFill>
                <a:latin typeface="Inter"/>
              </a:rPr>
              <a:t>Mutect2</a:t>
            </a:r>
          </a:p>
        </p:txBody>
      </p:sp>
      <p:sp>
        <p:nvSpPr>
          <p:cNvPr id="58" name="Oval 57"/>
          <p:cNvSpPr/>
          <p:nvPr/>
        </p:nvSpPr>
        <p:spPr>
          <a:xfrm>
            <a:off x="8392232" y="400964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3028" y="4343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2563EB"/>
                </a:solidFill>
                <a:latin typeface="Inter"/>
              </a:rPr>
              <a:t>FilterMutect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174965" y="5212080"/>
            <a:ext cx="9483635" cy="0"/>
          </a:xfrm>
          <a:prstGeom prst="line">
            <a:avLst/>
          </a:prstGeom>
          <a:ln w="635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2069809" y="510692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580605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fastp</a:t>
            </a:r>
          </a:p>
        </p:txBody>
      </p:sp>
      <p:sp>
        <p:nvSpPr>
          <p:cNvPr id="63" name="Oval 62"/>
          <p:cNvSpPr/>
          <p:nvPr/>
        </p:nvSpPr>
        <p:spPr>
          <a:xfrm>
            <a:off x="3545259" y="5001768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3609267" y="506577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161211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BWA-MEM2</a:t>
            </a:r>
          </a:p>
        </p:txBody>
      </p:sp>
      <p:sp>
        <p:nvSpPr>
          <p:cNvPr id="66" name="Oval 65"/>
          <p:cNvSpPr/>
          <p:nvPr/>
        </p:nvSpPr>
        <p:spPr>
          <a:xfrm>
            <a:off x="5125865" y="5001768"/>
            <a:ext cx="420624" cy="4206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189873" y="5065776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41817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MarkDup</a:t>
            </a:r>
          </a:p>
        </p:txBody>
      </p:sp>
      <p:sp>
        <p:nvSpPr>
          <p:cNvPr id="69" name="Oval 68"/>
          <p:cNvSpPr/>
          <p:nvPr/>
        </p:nvSpPr>
        <p:spPr>
          <a:xfrm>
            <a:off x="6811626" y="510692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2422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Strelka2</a:t>
            </a:r>
          </a:p>
        </p:txBody>
      </p:sp>
      <p:sp>
        <p:nvSpPr>
          <p:cNvPr id="71" name="Oval 70"/>
          <p:cNvSpPr/>
          <p:nvPr/>
        </p:nvSpPr>
        <p:spPr>
          <a:xfrm>
            <a:off x="9972838" y="510692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83634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VEP</a:t>
            </a:r>
          </a:p>
        </p:txBody>
      </p:sp>
      <p:sp>
        <p:nvSpPr>
          <p:cNvPr id="73" name="Oval 72"/>
          <p:cNvSpPr/>
          <p:nvPr/>
        </p:nvSpPr>
        <p:spPr>
          <a:xfrm>
            <a:off x="11553444" y="5106924"/>
            <a:ext cx="210312" cy="21031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064240" y="5440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" b="0" i="0">
                <a:solidFill>
                  <a:srgbClr val="DC2626"/>
                </a:solidFill>
                <a:latin typeface="Inter"/>
              </a:rPr>
              <a:t>MultiQC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629107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Sarek v3.8.1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977639" y="629107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23360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GATK Best Practices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98079" y="6291072"/>
            <a:ext cx="3291840" cy="310896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543800" y="63093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OncoAnalyzer v2.3.0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064240" y="6291072"/>
            <a:ext cx="1005840" cy="310896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082528" y="6309360"/>
            <a:ext cx="9692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Inter"/>
              </a:rPr>
              <a:t>◎ 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NF-Core Sarek  v3.8.1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Primary recommendation  ·  Somatic &amp; germline  · 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7724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435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17320"/>
            <a:ext cx="1920240" cy="274320"/>
          </a:xfrm>
          <a:prstGeom prst="roundRect">
            <a:avLst>
              <a:gd name="adj" fmla="val 8000"/>
            </a:avLst>
          </a:prstGeom>
          <a:solidFill>
            <a:srgbClr val="16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4" y="143560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SNV · Indel · CNV · 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66928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84248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350008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Nextflow-based workflow implementing GATK Best Practices. Modular: swap aligners (BWA-MEM2 vs DRAGMAP), callers (Mutect2, Strelka2, FreeBayes), SV tools (Manta, TIDDIT) and CNV tools (ASCAT, Control-FREEC).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74136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6"/>
            <a:ext cx="566928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575304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Reproducibility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41063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nf-core standards guarantee bit-for-bit reproducibility across Docker, Singularity, Conda, AWS Batch and GCP. A single samplesheet.csv drives the entire run.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65192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4965192"/>
            <a:ext cx="566928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166359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CLI Quickstart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532120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nextflow run nf-core/sarek -profile docker \
  --input samplesheet.csv \
  --outdir results \
  --genome GRCh38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417320"/>
            <a:ext cx="53949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417320"/>
            <a:ext cx="5394960" cy="4754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Clinical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95681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04825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Specimen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0482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Fresh-frozen tissue, FFPE (with artifact filtering)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262432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271576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Min DNA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7157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50 ng  (200 ng recommended for WGS)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291840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6832" y="338328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Target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3832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60× tumor,  ≥ 30× normal  (WGS)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959352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2" y="4050791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Limit of Det.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4050791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~5% VAF at 60× coverage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626864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471830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Report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71830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SNVs, small indels (≤ 50 bp)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529437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538581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Turnaround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538581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6–10 h per sample pair on 32-core node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596188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6053327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Accreditation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6053327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Widely used in ISO 15189-compliant 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GATK Best Practices  v4.x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Broad Institute reference  ·  Germline &amp; somatic  ·  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7724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435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17320"/>
            <a:ext cx="1554480" cy="274320"/>
          </a:xfrm>
          <a:prstGeom prst="roundRect">
            <a:avLst>
              <a:gd name="adj" fmla="val 8000"/>
            </a:avLst>
          </a:prstGeom>
          <a:solidFill>
            <a:srgbClr val="1A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4" y="1435608"/>
            <a:ext cx="1463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SNV · Indel · CNV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66928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84248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Core Philosophy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350008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Two major phases: (1) Data Pre-processing — MarkDuplicates + BQSR to achieve maximum base quality accuracy. (2) Variant Discovery — HaplotypeCaller (germline) or Mutect2 (somatic) via local de novo haplotype assembly.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74136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6"/>
            <a:ext cx="566928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575304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Quality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41063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FilterMutectCalls applies orientation-bias artifact models, contamination estimates and panel-of-normals filtering. VQSR uses Gaussian Mixture Models for germline callset refinement.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65192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4965192"/>
            <a:ext cx="5669280" cy="43891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166359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CLI Quickstart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532120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gatk Mutect2 -R ref.fa \
  -I tumor.bam -I normal.bam \
  -normal normal_sample \
  --germline-resource af-only-gnomad.vcf \
  --panel-of-normals pon.vcf -O somatic.vcf.gz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417320"/>
            <a:ext cx="53949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417320"/>
            <a:ext cx="5394960" cy="4754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Clinical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95681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04825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Specimen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0482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Fresh-frozen tissue, FFPE, blood (germline)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262432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271576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Min DNA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7157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100 ng (WES),  ≥ 1 µg (WGS)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291840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6832" y="338328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Target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3832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100× target (WES),  ≥ 30× (WGS)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959352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2" y="4050791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Limit of Det.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4050791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~5–10% VAF depending on coverage and mode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626864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471830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Report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71830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SNVs, small indels — germline &amp; somatic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529437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538581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Turnaround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538581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4–8 h per sample (WES) on 16-core node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596188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6053327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Accreditation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6053327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Broad Institute reference — basis for most clinical validations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NF-Core OncoAnalyzer  v2.3.0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Comprehensive oncology  ·  DNA + RNA  ·  Under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77240" cy="2743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1435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17320"/>
            <a:ext cx="2651760" cy="27432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4" y="143560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SNV · Indel · CNV · SV · RNA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66928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984248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Key Differentiators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2350008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Speed: Strelka2 over Mutect2 for 10-100× faster turnaround. Purity &amp; Ploidy: PURPLE integration for accurate tumour fraction estimation. RNA: Arriba + STAR-Fusion for gene fusion detection alongside somatic calling.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74136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374136"/>
            <a:ext cx="566928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575304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Multi-omic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41063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Designed to merge DNA (WGS/WES/Panel) and RNA (transcriptome) in a single workflow. Mutational signatures are extracted as part of the standard output — no extra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65192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4965192"/>
            <a:ext cx="566928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5166359"/>
            <a:ext cx="5340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Inter"/>
              </a:rPr>
              <a:t>CLI Quickstart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532120"/>
            <a:ext cx="5340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Inter"/>
              </a:rPr>
              <a:t>nextflow run nf-core/oncoanalyser \
  -profile docker \
  --input samplesheet.csv \
  --outdir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417320"/>
            <a:ext cx="53949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46520" y="1417320"/>
            <a:ext cx="5394960" cy="4754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Clinical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95681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204825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Specimen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04825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Fresh-frozen tissue, FFPE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262432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271576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Min DNA 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715768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50 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291840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56832" y="338328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Target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3832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≥ 80× tumor,  ≥ 40× normal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959352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2" y="4050791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Limit of Det.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4050791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~3% VAF  (Strelka2 higher indel sensitivity)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4626864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56832" y="471830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Report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471830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SNVs, indels, structural variants (with Manta)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5294376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538581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Turnaround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5385816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4–6 h per sample pair on 32-core node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5961888"/>
            <a:ext cx="5212080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6053327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Accreditation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6053327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Inter"/>
              </a:rPr>
              <a:t>Under review — not yet in ISO 15189 validations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Tool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Key software at every step — hub tools are consensus across ≥ 2 pipelines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FastQC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150876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88336" y="152704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QC &amp; Trim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11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827F"/>
                </a:solidFill>
                <a:latin typeface="Inter"/>
              </a:rPr>
              <a:t>Used by: GATK · Sarek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0370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Scans raw FASTQ and flags quality problems. De facto standard — zero-config, universally understood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1732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70832" y="141732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fastp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7104" y="150876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068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152704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QC &amp; Trim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1911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6827F"/>
                </a:solidFill>
                <a:latin typeface="Inter"/>
              </a:rPr>
              <a:t>Used by: Sarek · OncoAnalyzer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20370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All-in-one QC + adapter trimming. Single C++ binary; supports polyG/X trimming for NovaSeq chemistry.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141732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84464" y="141732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21624" y="15087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BWA-MEM2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0736" y="150876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0" y="152704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91109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59669"/>
                </a:solidFill>
                <a:latin typeface="Inter"/>
              </a:rPr>
              <a:t>Used by: All 3 pipelines  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20370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2-3× faster than BWA-MEM with identical output. Industry-standard short-read aligner. Consensus hub.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5468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57200" y="315468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246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MarkDuplicates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3472" y="324612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88336" y="326440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Post-process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6484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C3AED"/>
                </a:solidFill>
                <a:latin typeface="Inter"/>
              </a:rPr>
              <a:t>Used by: All 3 pipelines  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94106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Flags PCR/optical duplicate reads so variant callers do not double-count them. Consensus hub.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15468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70832" y="315468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07992" y="3246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BQSR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47104" y="324612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1968" y="326440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Post-process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36484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C3AED"/>
                </a:solidFill>
                <a:latin typeface="Inter"/>
              </a:rPr>
              <a:t>Used by: GATK · Sarek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394106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Corrects systematic sequencer biases in base quality scores using known-variant reference sites (dbSNP, Mills).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84464" y="315468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84464" y="315468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21624" y="32461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Mutect2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0736" y="3246120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15600" y="3264408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Variant Calling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364845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C2626"/>
                </a:solidFill>
                <a:latin typeface="Inter"/>
              </a:rPr>
              <a:t>Used by: GATK · Sarek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394106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Broad Institute somatic SNV/indel caller via local de novo haplotype assembly. Supports panel of normals.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9204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57200" y="489204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9834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Strelka2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33472" y="4983479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88336" y="5001767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Variant Calling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538581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C2626"/>
                </a:solidFill>
                <a:latin typeface="Inter"/>
              </a:rPr>
              <a:t>Used by: OncoAnalyzer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67842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10-100× faster than Mutect2. Mixture-model approach with high indel accuracy. Useful as consensus filter.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70832" y="489204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4370832" y="489204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07992" y="49834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Ensembl VEP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7104" y="4983479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01968" y="5001767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Annotation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7992" y="538581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59E0B"/>
                </a:solidFill>
                <a:latin typeface="Inter"/>
              </a:rPr>
              <a:t>Used by: Sarek · OncoAnalyzer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07992" y="567842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Predicts functional consequences. Cross-references ClinVar, COSMIC, gnomAD. Requires ≥ 15 GB local cache.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84464" y="4892040"/>
            <a:ext cx="370332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284464" y="4892040"/>
            <a:ext cx="3703320" cy="43891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21624" y="49834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Inter"/>
              </a:rPr>
              <a:t>MultiQC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460736" y="4983479"/>
            <a:ext cx="1389888" cy="256032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515600" y="5001767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Inter"/>
              </a:rPr>
              <a:t>Reporting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21624" y="5385816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Inter"/>
              </a:rPr>
              <a:t>Used by: Sarek · OncoAnalyzer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21624" y="5678424"/>
            <a:ext cx="3429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Aggregates logs from every tool into a single interactive HTML dashboard. Supports 100+ tools.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Wiki Hub  &amp;  Pipeline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Depth and interactivity built into the same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3949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890066"/>
            <a:ext cx="5394960" cy="47548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Inter"/>
              </a:rPr>
              <a:t>Wiki Hub  /wiki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Each pipeline gets a deep-dive page with: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256032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Architecture walk-through with Markdown + inline code blocks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3456432"/>
            <a:ext cx="256032" cy="2560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Publications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30752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Key papers with DOI, authors and journal metadata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435254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251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26864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Worked use-cases from reference institutions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5248656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22122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Glossary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22976"/>
            <a:ext cx="4434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Inline hover tooltips for VAF, BQSR, LOD, FFPE…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108192"/>
            <a:ext cx="5120640" cy="3474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612648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Route: /wiki/:lineId  →  e.g.  /wiki/l_sarek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417320"/>
            <a:ext cx="548640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09360" y="1890066"/>
            <a:ext cx="5486400" cy="4754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5270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Inter"/>
              </a:rPr>
              <a:t>Pipeline Sandbox  /sandbox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01168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Inter"/>
              </a:rPr>
              <a:t>Interactive custom pipeline builder:</a:t>
            </a:r>
          </a:p>
        </p:txBody>
      </p:sp>
      <p:sp>
        <p:nvSpPr>
          <p:cNvPr id="28" name="Oval 27"/>
          <p:cNvSpPr/>
          <p:nvPr/>
        </p:nvSpPr>
        <p:spPr>
          <a:xfrm>
            <a:off x="6473952" y="256032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25328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Step Selectors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834640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Per-step dropdowns listing all available tools for that stage</a:t>
            </a:r>
          </a:p>
        </p:txBody>
      </p:sp>
      <p:sp>
        <p:nvSpPr>
          <p:cNvPr id="31" name="Oval 30"/>
          <p:cNvSpPr/>
          <p:nvPr/>
        </p:nvSpPr>
        <p:spPr>
          <a:xfrm>
            <a:off x="6473952" y="3456432"/>
            <a:ext cx="256032" cy="25603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34290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Live 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73075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Custom pipeline renders on the tube map in amber — reference pipelines faded</a:t>
            </a:r>
          </a:p>
        </p:txBody>
      </p:sp>
      <p:sp>
        <p:nvSpPr>
          <p:cNvPr id="34" name="Oval 33"/>
          <p:cNvSpPr/>
          <p:nvPr/>
        </p:nvSpPr>
        <p:spPr>
          <a:xfrm>
            <a:off x="6473952" y="435254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0" y="43251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Bash 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62686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One-click export of a skeleton bash script with selected tools pre-filled</a:t>
            </a:r>
          </a:p>
        </p:txBody>
      </p:sp>
      <p:sp>
        <p:nvSpPr>
          <p:cNvPr id="37" name="Oval 36"/>
          <p:cNvSpPr/>
          <p:nvPr/>
        </p:nvSpPr>
        <p:spPr>
          <a:xfrm>
            <a:off x="6473952" y="5248656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52212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  <a:latin typeface="Inter"/>
              </a:rPr>
              <a:t>Modal Details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2297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Inter"/>
              </a:rPr>
              <a:t>Click any station to read tool details without leaving the sandbox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6108192"/>
            <a:ext cx="5212080" cy="34747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61264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Generated script uses  set -euo pipefail  ·  parameterised by SAMPLE_ID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Clinical Profiles — Side-by-Side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Analytical specifications for choosing the right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89888"/>
            <a:ext cx="2825496" cy="5486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408176"/>
            <a:ext cx="2715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NF-Core Sarek
v3.8.1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2825496" cy="5486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408176"/>
            <a:ext cx="2715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GATK Best Practices
v4.x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389888"/>
            <a:ext cx="2825496" cy="5486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62872" y="1408176"/>
            <a:ext cx="27157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NF-Core OncoAnalyzer
v2.3.0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01168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Specimen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01168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103120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Fresh-frozen, FFPE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1168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79" y="2103120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Fresh-frozen, FFPE, blood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01168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2103120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Fresh-frozen, FFPE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67004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76148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Min DNA Input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67004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276148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50 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67004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79" y="276148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100 ng (WES)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267004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276148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50 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328416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419856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328416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3419856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60× tumor / 30× normal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28416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79" y="3419856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100× target (WES)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3328416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81160" y="3419856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≥ 80× tumor / 40× normal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986784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4078224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Limit of Det.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3986784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29000" y="4078224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~5% VAF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3986784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79" y="4078224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~5–10% VAF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3986784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81160" y="4078224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~3% VAF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4645152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736592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Variant Types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4645152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29000" y="4736592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SNV, Indel, CNV, SV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645152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79" y="4736592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SNV, Indel, CNV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4645152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81160" y="4736592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SNV, Indel, CNV, SV, Fusion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30352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5394959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Turnaround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37560" y="530352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29000" y="5394959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6–10 h / pair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30352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55079" y="5394959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4–8 h / sample (WES)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89720" y="5303520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81160" y="5394959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4–6 h / pair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596188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605332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4748B"/>
                </a:solidFill>
                <a:latin typeface="Inter"/>
              </a:rPr>
              <a:t>Status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37560" y="596188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29000" y="605332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Stable 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96188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55079" y="605332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Stable ✓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89720" y="5961888"/>
            <a:ext cx="2825496" cy="603504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281160" y="6053328"/>
            <a:ext cx="26974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Inter"/>
              </a:rPr>
              <a:t>Under Review 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Inter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Key terms — shown as inline hover tooltips throughout the app via GlossaryText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VAF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4721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Variant Allele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89280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Proportion of reads supporting the variant allele. Key metric for low-fraction somatic mutation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BQSR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14721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Base Quality Score Recalibration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89280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GATK process correcting systematic biases in base quality scores assigned by the sequencer.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72491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52374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Panel of Normals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294436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Collection of normal samples used to filter recurrent technical artifacts in somatic calling.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46888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55080" y="246888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72491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LOD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252374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Limit of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94436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Minimum VAF a pipeline can reliably detect. Depends on coverage, sample quality and caller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39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7200" y="3520439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7647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FFPE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357530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Formalin-Fixed Paraffin-Embedded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7" y="3995927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Common tissue preservation method introducing DNA artifacts that require specific pipeline handling.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39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55080" y="3520439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77647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cfDNA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4888" y="357530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Cell-free DNA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4888" y="3995927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Fragmented DNA circulating in the bloodstream. Used in liquid biopsy — very low VAF detection required.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7200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82803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UMI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46268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Unique Molecular Identifiers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7" y="504748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Short random sequences added during library prep for true duplicate removal and error correction.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572000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355080" y="4572000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82803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TAT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6268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Turnaround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4888" y="504748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Time from sample receipt to report delivery. Clinically critical for urgent diagnostics.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23559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57200" y="5623559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87959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WES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007" y="567842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Whole Exome Sequencing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7007" y="609904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Targeted sequencing of protein-coding regions (~1-2% of genome). Cost-effective for known gene panels.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5623559"/>
            <a:ext cx="55778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355080" y="5623559"/>
            <a:ext cx="676656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55080" y="5879592"/>
            <a:ext cx="6766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WGS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567842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  <a:latin typeface="Inter"/>
              </a:rPr>
              <a:t>Whole Genome Sequencing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04888" y="6099048"/>
            <a:ext cx="4681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Inter"/>
              </a:rPr>
              <a:t>Sequencing of the entire genome at 30-60× coverage. Detects SVs, CNVs and regulatory variants.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FAFC"/>
                </a:solidFill>
                <a:latin typeface="Inter"/>
              </a:rPr>
              <a:t>Further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Inter"/>
              </a:rPr>
              <a:t>Proposed next features and research integrations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444752"/>
            <a:ext cx="54864" cy="16276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🧬 Long Read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Add ONT/PacBio pipelines — Clair3 for SNVs/indels, Sniffles2 for large structural variants. Extend TubeMap with a long-read-specific step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44752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444752"/>
            <a:ext cx="54864" cy="16276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5727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🤖 AI/ML Variant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93392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Integrate DeepVariant or GATK CNN-based scoring as an alternative filtering station. Expose model confidence thresholds in the sandbox selector.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54864" cy="162763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328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🔬 Multi-omic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49039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Extend beyond DNA to RNA-seq (DESeq2, salmon), ChIP-seq, ATAC-seq and methylation. Add a "data-type" filter dimension to the tube map.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200400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55080" y="3200400"/>
            <a:ext cx="54864" cy="1627632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3284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☁️ Cloud Deployment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749039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One-click deployment guides for AWS Batch, GCP Life Sciences and Azure Genomics. Embed cost-per-sample estimates from public cloud pricing APIs.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56048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956048"/>
            <a:ext cx="54864" cy="1627632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50840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🏥 Lab-specific 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04688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Allow institutions to submit validated custom pipeline configurations. Version-control community submissions via GitHub pull requests.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956048"/>
            <a:ext cx="5577840" cy="16276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80" y="4956048"/>
            <a:ext cx="54864" cy="1627632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8" y="50840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Inter"/>
              </a:rPr>
              <a:t>📊 VCF Sandbox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5504688"/>
            <a:ext cx="52120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Let users upload a real VCF to visualise filtering decisions at each pipeline step in-browser. Highlight which filters each tool would apply and why.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230368" y="932688"/>
            <a:ext cx="329184" cy="3291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25312" y="932688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577840" y="1463040"/>
            <a:ext cx="329184" cy="3291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5394960" y="1097280"/>
            <a:ext cx="694944" cy="0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742432" y="1097280"/>
            <a:ext cx="347472" cy="530352"/>
          </a:xfrm>
          <a:prstGeom prst="line">
            <a:avLst/>
          </a:prstGeom>
          <a:ln w="190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2029968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FAFC"/>
                </a:solidFill>
                <a:latin typeface="Inter"/>
              </a:rPr>
              <a:t>MutaMetro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907792"/>
            <a:ext cx="12188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94A3B8"/>
                </a:solidFill>
                <a:latin typeface="Inter"/>
              </a:rPr>
              <a:t>Consolidated pipeline recommendations for DNA Mutational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493008"/>
            <a:ext cx="12188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94A3B8"/>
                </a:solidFill>
                <a:latin typeface="Inter"/>
              </a:rPr>
              <a:t>Task Force </a:t>
            </a:r>
            <a:r>
              <a:rPr sz="1000" b="0" i="0" dirty="0" err="1">
                <a:solidFill>
                  <a:srgbClr val="94A3B8"/>
                </a:solidFill>
                <a:latin typeface="Inter"/>
              </a:rPr>
              <a:t>Computazionale</a:t>
            </a:r>
            <a:r>
              <a:rPr sz="1000" b="0" i="0" dirty="0">
                <a:solidFill>
                  <a:srgbClr val="94A3B8"/>
                </a:solidFill>
                <a:latin typeface="Inter"/>
              </a:rPr>
              <a:t> </a:t>
            </a:r>
            <a:r>
              <a:rPr sz="1000" b="0" i="0" dirty="0" err="1">
                <a:solidFill>
                  <a:srgbClr val="94A3B8"/>
                </a:solidFill>
                <a:latin typeface="Inter"/>
              </a:rPr>
              <a:t>Bioinfo</a:t>
            </a:r>
            <a:r>
              <a:rPr sz="1000" b="0" i="0" dirty="0">
                <a:solidFill>
                  <a:srgbClr val="94A3B8"/>
                </a:solidFill>
                <a:latin typeface="Inter"/>
              </a:rPr>
              <a:t>  ·  September 202</a:t>
            </a:r>
            <a:r>
              <a:rPr lang="it-IT" sz="1000" b="0" i="0" dirty="0">
                <a:solidFill>
                  <a:srgbClr val="94A3B8"/>
                </a:solidFill>
                <a:latin typeface="Inter"/>
              </a:rPr>
              <a:t>6</a:t>
            </a:r>
            <a:endParaRPr sz="1000" b="0" i="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18688" y="4096512"/>
            <a:ext cx="1792224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36976" y="4114800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Sarek v3.8.1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4096512"/>
            <a:ext cx="1792224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5504" y="4114800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GATK BP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5744" y="4096512"/>
            <a:ext cx="1792224" cy="347472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14032" y="4114800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</a:rPr>
              <a:t>OncoAnalyzer v2.3.0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773168"/>
            <a:ext cx="121889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8FAFC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2186</Words>
  <Application>Microsoft Macintosh PowerPoint</Application>
  <PresentationFormat>Personalizzato</PresentationFormat>
  <Paragraphs>349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Calibri</vt:lpstr>
      <vt:lpstr>Inter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Niccolò Vono</cp:lastModifiedBy>
  <cp:revision>2</cp:revision>
  <dcterms:created xsi:type="dcterms:W3CDTF">2013-01-27T09:14:16Z</dcterms:created>
  <dcterms:modified xsi:type="dcterms:W3CDTF">2026-08-21T23:22:54Z</dcterms:modified>
  <cp:category/>
</cp:coreProperties>
</file>